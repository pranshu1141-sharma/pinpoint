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0175" y="657225"/>
            <a:ext cx="7051358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1400175" y="1566863"/>
            <a:ext cx="70513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75" kern="0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NOMINATION ROUND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1400175" y="8210550"/>
            <a:ext cx="70513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SEPTEMBER 2026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8191500" y="381000"/>
            <a:ext cx="9614535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01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Details of the Team and Problem Statement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191500" y="1744861"/>
            <a:ext cx="10267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of Project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191500" y="2092523"/>
            <a:ext cx="961453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— Automated signal parameter extraction from .IQ/.WAV captures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191500" y="3045023"/>
            <a:ext cx="10267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191500" y="3392686"/>
            <a:ext cx="961453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SIH26147 · Automated model for analysis of .IQ and .wav files along with signal parameter extraction.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8191500" y="4297561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049000" y="4297561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/ Software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191500" y="4759523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049000" y="4759523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8191500" y="5221486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Number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049000" y="5221486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8191500" y="5683448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1049000" y="5683448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Ariwala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8191500" y="6145411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049000" y="6145411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Thapar Institute of Engineering &amp; Technology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8191500" y="6607373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1049000" y="6607373"/>
            <a:ext cx="71247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ANALYST WORKFLOW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257175" y="1381125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7" name="Text 5"/>
          <p:cNvSpPr/>
          <p:nvPr/>
        </p:nvSpPr>
        <p:spPr>
          <a:xfrm>
            <a:off x="219075" y="1381125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019175" y="1381125"/>
            <a:ext cx="4920109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1381125"/>
            <a:ext cx="461051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CAPTURES ARE READ TODAY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409575" y="1962150"/>
            <a:ext cx="8505825" cy="173831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1" name="Text 9"/>
          <p:cNvSpPr/>
          <p:nvPr/>
        </p:nvSpPr>
        <p:spPr>
          <a:xfrm>
            <a:off x="695325" y="2209800"/>
            <a:ext cx="818950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2250" dirty="0">
                <a:solidFill>
                  <a:srgbClr val="202623"/>
                </a:solidFill>
                <a:highlight>
                  <a:srgbClr val="D5E4C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SDRs record raw IQ. Analysts open each capture and read the spectrogram by hand.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257175" y="4081463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3" name="Text 11"/>
          <p:cNvSpPr/>
          <p:nvPr/>
        </p:nvSpPr>
        <p:spPr>
          <a:xfrm>
            <a:off x="219075" y="4081463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019175" y="4081463"/>
            <a:ext cx="1786161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4081463"/>
            <a:ext cx="140516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09575" y="4662488"/>
            <a:ext cx="8505825" cy="132397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7" name="Text 15"/>
          <p:cNvSpPr/>
          <p:nvPr/>
        </p:nvSpPr>
        <p:spPr>
          <a:xfrm>
            <a:off x="695325" y="4910137"/>
            <a:ext cx="81895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/ SIGINT analyst doing first-pass triage of HF / VHF / UHF captures.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257175" y="6367463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9" name="Text 17"/>
          <p:cNvSpPr/>
          <p:nvPr/>
        </p:nvSpPr>
        <p:spPr>
          <a:xfrm>
            <a:off x="219075" y="6367463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019175" y="6367463"/>
            <a:ext cx="2295376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1" name="Text 19"/>
          <p:cNvSpPr/>
          <p:nvPr/>
        </p:nvSpPr>
        <p:spPr>
          <a:xfrm>
            <a:off x="1247775" y="6367463"/>
            <a:ext cx="191437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VOLUME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09575" y="6948488"/>
            <a:ext cx="8505825" cy="189547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3" name="Text 21"/>
          <p:cNvSpPr/>
          <p:nvPr/>
        </p:nvSpPr>
        <p:spPr>
          <a:xfrm>
            <a:off x="695325" y="7196138"/>
            <a:ext cx="3192786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≈576 GB/hr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023717" y="7505700"/>
            <a:ext cx="474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IQ from one 20 MS/s channel (160 MB/s)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77400" y="2993231"/>
            <a:ext cx="8039100" cy="1147763"/>
          </a:xfrm>
          <a:prstGeom prst="rect">
            <a:avLst/>
          </a:prstGeom>
          <a:solidFill>
            <a:srgbClr val="D5E4C1"/>
          </a:solidFill>
          <a:ln w="28575">
            <a:solidFill>
              <a:srgbClr val="648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2675" y="3231356"/>
            <a:ext cx="81934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972675" y="3617119"/>
            <a:ext cx="819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.iq / .sigmf / .wav capture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75445" y="4350544"/>
            <a:ext cx="88430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9677400" y="4941094"/>
            <a:ext cx="8039100" cy="1147763"/>
          </a:xfrm>
          <a:prstGeom prst="rect">
            <a:avLst/>
          </a:prstGeom>
          <a:solidFill>
            <a:srgbClr val="F9EDD8"/>
          </a:solidFill>
          <a:ln w="28575">
            <a:solidFill>
              <a:srgbClr val="A465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72675" y="5179219"/>
            <a:ext cx="81934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46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(MANUAL)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972675" y="5564981"/>
            <a:ext cx="819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spectrogram, reads signals by eye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275445" y="6298406"/>
            <a:ext cx="88430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9677400" y="6888956"/>
            <a:ext cx="8039100" cy="1147763"/>
          </a:xfrm>
          <a:prstGeom prst="rect">
            <a:avLst/>
          </a:prstGeom>
          <a:solidFill>
            <a:srgbClr val="F6F9F1"/>
          </a:solidFill>
          <a:ln w="28575">
            <a:solidFill>
              <a:srgbClr val="648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72675" y="7127081"/>
            <a:ext cx="81934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9972675" y="7512844"/>
            <a:ext cx="819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signal parameters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428625" y="9839325"/>
            <a:ext cx="17979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GB/hr computed: 20 MS/s × 8 bytes (complex float32) = 160 MB/s × 3,600 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SIH26147 · NTRO · SOFTWARE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571500" y="1571625"/>
            <a:ext cx="17145000" cy="1832521"/>
          </a:xfrm>
          <a:prstGeom prst="rect">
            <a:avLst/>
          </a:prstGeom>
          <a:solidFill>
            <a:srgbClr val="F6F9F1"/>
          </a:solidFill>
          <a:ln w="28575">
            <a:solidFill>
              <a:srgbClr val="648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1943100"/>
            <a:ext cx="1676400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7"/>
              </a:lnSpc>
              <a:buNone/>
            </a:pPr>
            <a:r>
              <a:rPr lang="en-US" sz="3300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“Automated model for analysis of .IQ and .wav files along with signal parameter extraction.”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71500" y="3937546"/>
            <a:ext cx="188595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75" kern="0" dirty="0">
                <a:solidFill>
                  <a:srgbClr val="8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STILL UNSOLVED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71500" y="4799558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0" name="Text 8"/>
          <p:cNvSpPr/>
          <p:nvPr/>
        </p:nvSpPr>
        <p:spPr>
          <a:xfrm>
            <a:off x="533400" y="4799558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333500" y="4799558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" y="4799558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&amp; LICENSED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723900" y="5380583"/>
            <a:ext cx="5334000" cy="23431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5647283"/>
            <a:ext cx="492252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tools: PROCITEC go2signals, Rohde &amp; Schwarz CA-series.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6400800" y="4799558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62700" y="4799558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7162800" y="4799558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91400" y="4799558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VIEWERS, NOT REPORTS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553200" y="5380583"/>
            <a:ext cx="5334000" cy="23431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0" name="Text 18"/>
          <p:cNvSpPr/>
          <p:nvPr/>
        </p:nvSpPr>
        <p:spPr>
          <a:xfrm>
            <a:off x="6838950" y="5647283"/>
            <a:ext cx="492252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tools (GNU Radio, IQEngine) give viewers or building blocks, not file-to-parameters.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12230100" y="4799558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0" y="4799558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2992100" y="4799558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4" name="Text 22"/>
          <p:cNvSpPr/>
          <p:nvPr/>
        </p:nvSpPr>
        <p:spPr>
          <a:xfrm>
            <a:off x="13220700" y="4799558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MISLABELS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2382500" y="5380583"/>
            <a:ext cx="5334000" cy="23431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8250" y="5647283"/>
            <a:ext cx="492252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Deep-learning classifiers trained on synthetic data can confidently mislabel unseen signals.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571500" y="9839325"/>
            <a:ext cx="176936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vendor product pages; GNU Radio; IQEngine [6]; O’Shea et al. [5].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DELIVER, AND HOW WE KNOW</a:t>
            </a:r>
            <a:endParaRPr lang="en-US" sz="2925" dirty="0"/>
          </a:p>
        </p:txBody>
      </p:sp>
      <p:sp>
        <p:nvSpPr>
          <p:cNvPr id="6" name="Text 4"/>
          <p:cNvSpPr/>
          <p:nvPr/>
        </p:nvSpPr>
        <p:spPr>
          <a:xfrm>
            <a:off x="1552575" y="1381125"/>
            <a:ext cx="8695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672638" y="1381125"/>
            <a:ext cx="88482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57175" y="1876425"/>
            <a:ext cx="914400" cy="82391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" y="1876425"/>
            <a:ext cx="990600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00175" y="1876425"/>
            <a:ext cx="8043863" cy="823913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1666875" y="2124075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detection + pulse timing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72638" y="1876425"/>
            <a:ext cx="8043863" cy="82391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3" name="Text 11"/>
          <p:cNvSpPr/>
          <p:nvPr/>
        </p:nvSpPr>
        <p:spPr>
          <a:xfrm>
            <a:off x="9939338" y="2124075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list with pulse width (PW) and PRI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257175" y="2909888"/>
            <a:ext cx="914400" cy="82391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5" name="Text 13"/>
          <p:cNvSpPr/>
          <p:nvPr/>
        </p:nvSpPr>
        <p:spPr>
          <a:xfrm>
            <a:off x="219075" y="2909888"/>
            <a:ext cx="990600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400175" y="2909888"/>
            <a:ext cx="8043863" cy="823913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7" name="Text 15"/>
          <p:cNvSpPr/>
          <p:nvPr/>
        </p:nvSpPr>
        <p:spPr>
          <a:xfrm>
            <a:off x="1666875" y="3157538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frequency, bandwidth, SNR, symbol rate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672638" y="2909888"/>
            <a:ext cx="8043863" cy="82391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9" name="Text 17"/>
          <p:cNvSpPr/>
          <p:nvPr/>
        </p:nvSpPr>
        <p:spPr>
          <a:xfrm>
            <a:off x="9939338" y="3157538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value with measured error bars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257175" y="3943350"/>
            <a:ext cx="914400" cy="82391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1" name="Text 19"/>
          <p:cNvSpPr/>
          <p:nvPr/>
        </p:nvSpPr>
        <p:spPr>
          <a:xfrm>
            <a:off x="219075" y="3943350"/>
            <a:ext cx="990600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400175" y="3943350"/>
            <a:ext cx="8043863" cy="823913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3" name="Text 21"/>
          <p:cNvSpPr/>
          <p:nvPr/>
        </p:nvSpPr>
        <p:spPr>
          <a:xfrm>
            <a:off x="1666875" y="4191000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modulation label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672638" y="3943350"/>
            <a:ext cx="8043863" cy="82391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5" name="Text 23"/>
          <p:cNvSpPr/>
          <p:nvPr/>
        </p:nvSpPr>
        <p:spPr>
          <a:xfrm>
            <a:off x="9939338" y="4191000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with confidence, or abstention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257175" y="4976813"/>
            <a:ext cx="914400" cy="82391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7" name="Text 25"/>
          <p:cNvSpPr/>
          <p:nvPr/>
        </p:nvSpPr>
        <p:spPr>
          <a:xfrm>
            <a:off x="219075" y="4976813"/>
            <a:ext cx="990600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400175" y="4976813"/>
            <a:ext cx="8043863" cy="823913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9" name="Text 27"/>
          <p:cNvSpPr/>
          <p:nvPr/>
        </p:nvSpPr>
        <p:spPr>
          <a:xfrm>
            <a:off x="1666875" y="5224462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SigMF-annotated output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672638" y="4976813"/>
            <a:ext cx="8043863" cy="82391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1" name="Text 29"/>
          <p:cNvSpPr/>
          <p:nvPr/>
        </p:nvSpPr>
        <p:spPr>
          <a:xfrm>
            <a:off x="9939338" y="5224462"/>
            <a:ext cx="77517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directly in IQEngine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IN, SIGNAL CARD OUT</a:t>
            </a:r>
            <a:endParaRPr lang="en-US" sz="2925" dirty="0"/>
          </a:p>
        </p:txBody>
      </p:sp>
      <p:sp>
        <p:nvSpPr>
          <p:cNvPr id="6" name="Text 4"/>
          <p:cNvSpPr/>
          <p:nvPr/>
        </p:nvSpPr>
        <p:spPr>
          <a:xfrm>
            <a:off x="571500" y="1476375"/>
            <a:ext cx="16187738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37"/>
              </a:lnSpc>
              <a:buNone/>
            </a:pPr>
            <a:r>
              <a:rPr lang="en-US" sz="2700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an unknown RF capture, get back a signal card: every parameter with its confidence and the SNR range where it was validated.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878336"/>
            <a:ext cx="17145000" cy="7524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4107061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9" name="Text 6"/>
          <p:cNvSpPr/>
          <p:nvPr/>
        </p:nvSpPr>
        <p:spPr>
          <a:xfrm>
            <a:off x="533400" y="4107061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333500" y="4107061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1" name="Text 8"/>
          <p:cNvSpPr/>
          <p:nvPr/>
        </p:nvSpPr>
        <p:spPr>
          <a:xfrm>
            <a:off x="1562100" y="4107061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PARAMETERS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723900" y="4688086"/>
            <a:ext cx="5334000" cy="17335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9650" y="4935736"/>
            <a:ext cx="4922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carries a measured error bar.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6400800" y="4107061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5" name="Text 12"/>
          <p:cNvSpPr/>
          <p:nvPr/>
        </p:nvSpPr>
        <p:spPr>
          <a:xfrm>
            <a:off x="6362700" y="4107061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7162800" y="4107061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7" name="Text 14"/>
          <p:cNvSpPr/>
          <p:nvPr/>
        </p:nvSpPr>
        <p:spPr>
          <a:xfrm>
            <a:off x="7391400" y="4107061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ABSTENTION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6553200" y="4688086"/>
            <a:ext cx="5334000" cy="17335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9" name="Text 16"/>
          <p:cNvSpPr/>
          <p:nvPr/>
        </p:nvSpPr>
        <p:spPr>
          <a:xfrm>
            <a:off x="6838950" y="4935736"/>
            <a:ext cx="4922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reliably estimated” where the method stops working.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2230100" y="4107061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1" name="Text 18"/>
          <p:cNvSpPr/>
          <p:nvPr/>
        </p:nvSpPr>
        <p:spPr>
          <a:xfrm>
            <a:off x="12192000" y="4107061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2992100" y="4107061"/>
            <a:ext cx="47244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3" name="Text 20"/>
          <p:cNvSpPr/>
          <p:nvPr/>
        </p:nvSpPr>
        <p:spPr>
          <a:xfrm>
            <a:off x="13220700" y="4107061"/>
            <a:ext cx="440893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STANDARDS-NATIVE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12382500" y="4688086"/>
            <a:ext cx="5334000" cy="17335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5" name="Text 22"/>
          <p:cNvSpPr/>
          <p:nvPr/>
        </p:nvSpPr>
        <p:spPr>
          <a:xfrm>
            <a:off x="12668250" y="4935736"/>
            <a:ext cx="4922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 output for existing RF tools.</a:t>
            </a:r>
            <a:endParaRPr lang="en-US" sz="21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AND SHOW STOPPER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VALIDITY ENVELOPE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257175" y="1381125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7" name="Text 5"/>
          <p:cNvSpPr/>
          <p:nvPr/>
        </p:nvSpPr>
        <p:spPr>
          <a:xfrm>
            <a:off x="219075" y="1381125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019175" y="1381125"/>
            <a:ext cx="60960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1381125"/>
            <a:ext cx="58216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409575" y="1962150"/>
            <a:ext cx="6705600" cy="1203871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" y="2190750"/>
            <a:ext cx="6373368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output field carries its validated SNR range and abstains outside it.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57175" y="3489871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3" name="Text 11"/>
          <p:cNvSpPr/>
          <p:nvPr/>
        </p:nvSpPr>
        <p:spPr>
          <a:xfrm>
            <a:off x="219075" y="3489871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019175" y="3489871"/>
            <a:ext cx="60960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3489871"/>
            <a:ext cx="58216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CORE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09575" y="4070896"/>
            <a:ext cx="6705600" cy="83053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275" y="4299496"/>
            <a:ext cx="63733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DSP. CNN used only as a comparison.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57175" y="5225281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9" name="Text 17"/>
          <p:cNvSpPr/>
          <p:nvPr/>
        </p:nvSpPr>
        <p:spPr>
          <a:xfrm>
            <a:off x="219075" y="5225281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019175" y="5225281"/>
            <a:ext cx="6096000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1" name="Text 19"/>
          <p:cNvSpPr/>
          <p:nvPr/>
        </p:nvSpPr>
        <p:spPr>
          <a:xfrm>
            <a:off x="1247775" y="5225281"/>
            <a:ext cx="58216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SHOW-STOPPER DEMO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09575" y="5806306"/>
            <a:ext cx="6705600" cy="1577206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275" y="6034906"/>
            <a:ext cx="6373368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202623"/>
                </a:solidFill>
                <a:highlight>
                  <a:srgbClr val="D5E4C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Unseen file → annotated spectrogram + signal card in seconds. Pure noise → </a:t>
            </a:r>
            <a:pPr algn="l" indent="0" marL="0">
              <a:lnSpc>
                <a:spcPct val="120615"/>
              </a:lnSpc>
              <a:buNone/>
            </a:pPr>
            <a:r>
              <a:rPr lang="en-US" sz="2100" b="1" dirty="0">
                <a:solidFill>
                  <a:srgbClr val="A46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“unclassified”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202623"/>
                </a:solidFill>
                <a:highlight>
                  <a:srgbClr val="D5E4C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648575" y="3136106"/>
            <a:ext cx="10067925" cy="4367213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7150" y="3164681"/>
            <a:ext cx="2476500" cy="976312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53650" y="3164681"/>
            <a:ext cx="2511400" cy="976312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7" name="Text 25"/>
          <p:cNvSpPr/>
          <p:nvPr/>
        </p:nvSpPr>
        <p:spPr>
          <a:xfrm>
            <a:off x="10306050" y="3355181"/>
            <a:ext cx="22828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IQEngine built-in detector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665050" y="3164681"/>
            <a:ext cx="2511400" cy="976312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9" name="Text 27"/>
          <p:cNvSpPr/>
          <p:nvPr/>
        </p:nvSpPr>
        <p:spPr>
          <a:xfrm>
            <a:off x="12817450" y="3355181"/>
            <a:ext cx="22828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deep-learning example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176450" y="3164681"/>
            <a:ext cx="2511400" cy="976312"/>
          </a:xfrm>
          <a:prstGeom prst="rect">
            <a:avLst/>
          </a:prstGeom>
          <a:solidFill>
            <a:srgbClr val="252D46"/>
          </a:solidFill>
          <a:ln/>
        </p:spPr>
      </p:sp>
      <p:sp>
        <p:nvSpPr>
          <p:cNvPr id="31" name="Text 29"/>
          <p:cNvSpPr/>
          <p:nvPr/>
        </p:nvSpPr>
        <p:spPr>
          <a:xfrm>
            <a:off x="15328850" y="3355181"/>
            <a:ext cx="22828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7677150" y="4140994"/>
            <a:ext cx="2476500" cy="6667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3" name="Text 31"/>
          <p:cNvSpPr/>
          <p:nvPr/>
        </p:nvSpPr>
        <p:spPr>
          <a:xfrm>
            <a:off x="7829550" y="4331494"/>
            <a:ext cx="2247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153650" y="41409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5" name="Text 33"/>
          <p:cNvSpPr/>
          <p:nvPr/>
        </p:nvSpPr>
        <p:spPr>
          <a:xfrm>
            <a:off x="10306050" y="43410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boxes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2665050" y="41409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7" name="Text 35"/>
          <p:cNvSpPr/>
          <p:nvPr/>
        </p:nvSpPr>
        <p:spPr>
          <a:xfrm>
            <a:off x="12817450" y="43410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 label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5176450" y="4140994"/>
            <a:ext cx="2511400" cy="66675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9" name="Text 37"/>
          <p:cNvSpPr/>
          <p:nvPr/>
        </p:nvSpPr>
        <p:spPr>
          <a:xfrm>
            <a:off x="15328850" y="4331494"/>
            <a:ext cx="2282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signal card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677150" y="4807744"/>
            <a:ext cx="2476500" cy="6667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1" name="Text 39"/>
          <p:cNvSpPr/>
          <p:nvPr/>
        </p:nvSpPr>
        <p:spPr>
          <a:xfrm>
            <a:off x="7829550" y="4998244"/>
            <a:ext cx="2247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0153650" y="480774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3" name="Text 41"/>
          <p:cNvSpPr/>
          <p:nvPr/>
        </p:nvSpPr>
        <p:spPr>
          <a:xfrm>
            <a:off x="10306050" y="500776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2665050" y="480774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5" name="Text 43"/>
          <p:cNvSpPr/>
          <p:nvPr/>
        </p:nvSpPr>
        <p:spPr>
          <a:xfrm>
            <a:off x="12817450" y="500776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score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5176450" y="4807744"/>
            <a:ext cx="2511400" cy="66675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47" name="Text 45"/>
          <p:cNvSpPr/>
          <p:nvPr/>
        </p:nvSpPr>
        <p:spPr>
          <a:xfrm>
            <a:off x="15328850" y="4998244"/>
            <a:ext cx="2282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field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7677150" y="5474494"/>
            <a:ext cx="2476500" cy="6667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9" name="Text 47"/>
          <p:cNvSpPr/>
          <p:nvPr/>
        </p:nvSpPr>
        <p:spPr>
          <a:xfrm>
            <a:off x="7829550" y="5664994"/>
            <a:ext cx="2247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0153650" y="54744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1" name="Text 49"/>
          <p:cNvSpPr/>
          <p:nvPr/>
        </p:nvSpPr>
        <p:spPr>
          <a:xfrm>
            <a:off x="10306050" y="56745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2665050" y="54744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3" name="Text 51"/>
          <p:cNvSpPr/>
          <p:nvPr/>
        </p:nvSpPr>
        <p:spPr>
          <a:xfrm>
            <a:off x="12817450" y="56745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5176450" y="5474494"/>
            <a:ext cx="2511400" cy="66675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55" name="Text 53"/>
          <p:cNvSpPr/>
          <p:nvPr/>
        </p:nvSpPr>
        <p:spPr>
          <a:xfrm>
            <a:off x="15328850" y="5664994"/>
            <a:ext cx="2282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7677150" y="6141244"/>
            <a:ext cx="2476500" cy="6667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7" name="Text 55"/>
          <p:cNvSpPr/>
          <p:nvPr/>
        </p:nvSpPr>
        <p:spPr>
          <a:xfrm>
            <a:off x="7829550" y="6331744"/>
            <a:ext cx="2247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 output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0153650" y="614124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9" name="Text 57"/>
          <p:cNvSpPr/>
          <p:nvPr/>
        </p:nvSpPr>
        <p:spPr>
          <a:xfrm>
            <a:off x="10306050" y="634126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2665050" y="614124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61" name="Text 59"/>
          <p:cNvSpPr/>
          <p:nvPr/>
        </p:nvSpPr>
        <p:spPr>
          <a:xfrm>
            <a:off x="12817450" y="634126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5176450" y="6141244"/>
            <a:ext cx="2511400" cy="66675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63" name="Text 61"/>
          <p:cNvSpPr/>
          <p:nvPr/>
        </p:nvSpPr>
        <p:spPr>
          <a:xfrm>
            <a:off x="15328850" y="6331744"/>
            <a:ext cx="2282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7677150" y="6807994"/>
            <a:ext cx="2476500" cy="6667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65" name="Text 63"/>
          <p:cNvSpPr/>
          <p:nvPr/>
        </p:nvSpPr>
        <p:spPr>
          <a:xfrm>
            <a:off x="7829550" y="6998494"/>
            <a:ext cx="2247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&amp; offline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0153650" y="68079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67" name="Text 65"/>
          <p:cNvSpPr/>
          <p:nvPr/>
        </p:nvSpPr>
        <p:spPr>
          <a:xfrm>
            <a:off x="10306050" y="70080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2665050" y="6807994"/>
            <a:ext cx="2511400" cy="95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69" name="Text 67"/>
          <p:cNvSpPr/>
          <p:nvPr/>
        </p:nvSpPr>
        <p:spPr>
          <a:xfrm>
            <a:off x="12817450" y="7008019"/>
            <a:ext cx="228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5176450" y="6807994"/>
            <a:ext cx="2511400" cy="66675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71" name="Text 69"/>
          <p:cNvSpPr/>
          <p:nvPr/>
        </p:nvSpPr>
        <p:spPr>
          <a:xfrm>
            <a:off x="15328850" y="6998494"/>
            <a:ext cx="2282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72" name="Text 70"/>
          <p:cNvSpPr/>
          <p:nvPr/>
        </p:nvSpPr>
        <p:spPr>
          <a:xfrm>
            <a:off x="7648575" y="7655719"/>
            <a:ext cx="110747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 Verify competitor cells against current public documentation.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428625" y="9839325"/>
            <a:ext cx="17979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angle of arrival cannot be measured from a single-channel file.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TECHNIQUE · VALIDITY</a:t>
            </a:r>
            <a:endParaRPr lang="en-US" sz="29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2025"/>
            <a:ext cx="18288000" cy="887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9839325"/>
            <a:ext cx="176936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notes: synthetic test signal, team Monte Carlo (N=100 for frequency and symbol rate).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AND BUDGET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OFFLINE, CPU-ONLY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257175" y="1476375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7" name="Text 5"/>
          <p:cNvSpPr/>
          <p:nvPr/>
        </p:nvSpPr>
        <p:spPr>
          <a:xfrm>
            <a:off x="219075" y="1476375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019175" y="1476375"/>
            <a:ext cx="9934575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1476375"/>
            <a:ext cx="977541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409575" y="2057400"/>
            <a:ext cx="10544175" cy="223837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1" name="Shape 9"/>
          <p:cNvSpPr/>
          <p:nvPr/>
        </p:nvSpPr>
        <p:spPr>
          <a:xfrm>
            <a:off x="676275" y="2324100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345" y="2552700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4063975" y="2324100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4046" y="2552700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7451675" y="2324100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1746" y="2552700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676275" y="3252788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345" y="3481388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4063975" y="3252788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4046" y="3481388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7451675" y="3252788"/>
            <a:ext cx="3235300" cy="776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48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1746" y="3481388"/>
            <a:ext cx="28751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257175" y="4676775"/>
            <a:ext cx="762000" cy="581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4" name="Text 22"/>
          <p:cNvSpPr/>
          <p:nvPr/>
        </p:nvSpPr>
        <p:spPr>
          <a:xfrm>
            <a:off x="219075" y="4676775"/>
            <a:ext cx="838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1019175" y="4676775"/>
            <a:ext cx="9934575" cy="581025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6" name="Text 24"/>
          <p:cNvSpPr/>
          <p:nvPr/>
        </p:nvSpPr>
        <p:spPr>
          <a:xfrm>
            <a:off x="1247775" y="4676775"/>
            <a:ext cx="977541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409575" y="5257800"/>
            <a:ext cx="10544175" cy="1309688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275" y="5524500"/>
            <a:ext cx="4929188" cy="776288"/>
          </a:xfrm>
          <a:prstGeom prst="rect">
            <a:avLst/>
          </a:prstGeom>
          <a:solidFill>
            <a:srgbClr val="F6F9F1"/>
          </a:solidFill>
          <a:ln w="19050">
            <a:solidFill>
              <a:srgbClr val="64874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30937" y="5753100"/>
            <a:ext cx="461986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 Radio</a:t>
            </a:r>
            <a:endParaRPr lang="en-US" sz="2175" dirty="0"/>
          </a:p>
        </p:txBody>
      </p:sp>
      <p:sp>
        <p:nvSpPr>
          <p:cNvPr id="30" name="Shape 28"/>
          <p:cNvSpPr/>
          <p:nvPr/>
        </p:nvSpPr>
        <p:spPr>
          <a:xfrm>
            <a:off x="5757863" y="5524500"/>
            <a:ext cx="4929188" cy="776288"/>
          </a:xfrm>
          <a:prstGeom prst="rect">
            <a:avLst/>
          </a:prstGeom>
          <a:solidFill>
            <a:srgbClr val="F6F9F1"/>
          </a:solidFill>
          <a:ln w="19050">
            <a:solidFill>
              <a:srgbClr val="64874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912525" y="5753100"/>
            <a:ext cx="461986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IQEngine plugin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1620500" y="1476375"/>
            <a:ext cx="6096000" cy="84296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3" name="Text 31"/>
          <p:cNvSpPr/>
          <p:nvPr/>
        </p:nvSpPr>
        <p:spPr>
          <a:xfrm>
            <a:off x="12192000" y="3682826"/>
            <a:ext cx="54483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75" kern="0" dirty="0">
                <a:solidFill>
                  <a:srgbClr val="D5E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192000" y="4240039"/>
            <a:ext cx="54483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5000" dirty="0"/>
          </a:p>
        </p:txBody>
      </p:sp>
      <p:sp>
        <p:nvSpPr>
          <p:cNvPr id="35" name="Text 33"/>
          <p:cNvSpPr/>
          <p:nvPr/>
        </p:nvSpPr>
        <p:spPr>
          <a:xfrm>
            <a:off x="12192000" y="6373639"/>
            <a:ext cx="5101590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Open-source. Runs offline on a CPU laptop. No hardware.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/ EXPECTED OUTCOME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JUDGES CAN RUN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571500" y="3302794"/>
            <a:ext cx="3246090" cy="628650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3474244"/>
            <a:ext cx="2924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TOOL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71500" y="3931444"/>
            <a:ext cx="3246090" cy="26860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9" name="Text 7"/>
          <p:cNvSpPr/>
          <p:nvPr/>
        </p:nvSpPr>
        <p:spPr>
          <a:xfrm>
            <a:off x="781050" y="4179094"/>
            <a:ext cx="31096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2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+ notebook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1050" y="4617244"/>
            <a:ext cx="31096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any capture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46190" y="3302794"/>
            <a:ext cx="3246090" cy="628650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255740" y="3474244"/>
            <a:ext cx="2924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CARD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046190" y="3931444"/>
            <a:ext cx="3246090" cy="26860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4" name="Text 12"/>
          <p:cNvSpPr/>
          <p:nvPr/>
        </p:nvSpPr>
        <p:spPr>
          <a:xfrm>
            <a:off x="4255740" y="4179094"/>
            <a:ext cx="31096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2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255740" y="4617244"/>
            <a:ext cx="31096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Per-file signal card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20880" y="3302794"/>
            <a:ext cx="3246165" cy="628650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30430" y="3474244"/>
            <a:ext cx="2924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SIGMF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520880" y="3931444"/>
            <a:ext cx="3246165" cy="26860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9" name="Text 17"/>
          <p:cNvSpPr/>
          <p:nvPr/>
        </p:nvSpPr>
        <p:spPr>
          <a:xfrm>
            <a:off x="7730430" y="4179094"/>
            <a:ext cx="3109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2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.sigmf-meta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30430" y="4617244"/>
            <a:ext cx="310977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995645" y="3302794"/>
            <a:ext cx="3246090" cy="628650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2" name="Text 20"/>
          <p:cNvSpPr/>
          <p:nvPr/>
        </p:nvSpPr>
        <p:spPr>
          <a:xfrm>
            <a:off x="11205195" y="3474244"/>
            <a:ext cx="2924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IMAGE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995645" y="3931444"/>
            <a:ext cx="3246090" cy="26860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05195" y="4179094"/>
            <a:ext cx="31096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2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205195" y="4617244"/>
            <a:ext cx="31096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spectrogram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470335" y="3302794"/>
            <a:ext cx="3246090" cy="628650"/>
          </a:xfrm>
          <a:prstGeom prst="rect">
            <a:avLst/>
          </a:prstGeom>
          <a:solidFill>
            <a:srgbClr val="252D46"/>
          </a:solidFill>
          <a:ln/>
        </p:spPr>
      </p:sp>
      <p:sp>
        <p:nvSpPr>
          <p:cNvPr id="27" name="Text 25"/>
          <p:cNvSpPr/>
          <p:nvPr/>
        </p:nvSpPr>
        <p:spPr>
          <a:xfrm>
            <a:off x="14679885" y="3474244"/>
            <a:ext cx="2924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PROOF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470335" y="3931444"/>
            <a:ext cx="3246090" cy="2686050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9" name="Text 27"/>
          <p:cNvSpPr/>
          <p:nvPr/>
        </p:nvSpPr>
        <p:spPr>
          <a:xfrm>
            <a:off x="14679885" y="4179094"/>
            <a:ext cx="31096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2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679885" y="4617244"/>
            <a:ext cx="29118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Accuracy-vs-SNR curves, confusion matrix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71500" y="7150894"/>
            <a:ext cx="17145000" cy="795338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075" y="7179469"/>
            <a:ext cx="1862138" cy="738188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33" name="Text 31"/>
          <p:cNvSpPr/>
          <p:nvPr/>
        </p:nvSpPr>
        <p:spPr>
          <a:xfrm>
            <a:off x="866775" y="7389019"/>
            <a:ext cx="14049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2462213" y="7179469"/>
            <a:ext cx="15225713" cy="738188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5" name="Text 33"/>
          <p:cNvSpPr/>
          <p:nvPr/>
        </p:nvSpPr>
        <p:spPr>
          <a:xfrm>
            <a:off x="2728913" y="7389019"/>
            <a:ext cx="1514908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 · streaming · GPU · frequency-hopping characterisation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PINPOINT · TIET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571500" y="2966145"/>
            <a:ext cx="17145000" cy="4869061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075" y="2994720"/>
            <a:ext cx="3143250" cy="868561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3166170"/>
            <a:ext cx="2932748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743325" y="2994720"/>
            <a:ext cx="1905000" cy="868561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0" name="Text 8"/>
          <p:cNvSpPr/>
          <p:nvPr/>
        </p:nvSpPr>
        <p:spPr>
          <a:xfrm>
            <a:off x="3895725" y="3166170"/>
            <a:ext cx="167640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· Yr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648325" y="2994720"/>
            <a:ext cx="2407890" cy="868561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5781675" y="3166170"/>
            <a:ext cx="22173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detection &amp; estimation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056215" y="2994720"/>
            <a:ext cx="2407890" cy="868561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9565" y="3166170"/>
            <a:ext cx="22173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0464105" y="2994720"/>
            <a:ext cx="2407965" cy="868561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97455" y="3166170"/>
            <a:ext cx="2217465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testing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2872070" y="2994720"/>
            <a:ext cx="2407890" cy="868561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18" name="Text 16"/>
          <p:cNvSpPr/>
          <p:nvPr/>
        </p:nvSpPr>
        <p:spPr>
          <a:xfrm>
            <a:off x="13005420" y="3166170"/>
            <a:ext cx="22173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 output &amp; integration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5279960" y="2994720"/>
            <a:ext cx="2407965" cy="868561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20" name="Text 18"/>
          <p:cNvSpPr/>
          <p:nvPr/>
        </p:nvSpPr>
        <p:spPr>
          <a:xfrm>
            <a:off x="15413310" y="3166170"/>
            <a:ext cx="2217465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deck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600075" y="3863280"/>
            <a:ext cx="314325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2" name="Text 20"/>
          <p:cNvSpPr/>
          <p:nvPr/>
        </p:nvSpPr>
        <p:spPr>
          <a:xfrm>
            <a:off x="752475" y="4053780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Ariwala (Leader)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743325" y="3863280"/>
            <a:ext cx="190500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4" name="Text 22"/>
          <p:cNvSpPr/>
          <p:nvPr/>
        </p:nvSpPr>
        <p:spPr>
          <a:xfrm>
            <a:off x="3895725" y="4053780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· 3rd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5781675" y="40537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8189565" y="40537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0597455" y="405378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3005420" y="40537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5413310" y="405378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00075" y="4520505"/>
            <a:ext cx="314325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1" name="Text 29"/>
          <p:cNvSpPr/>
          <p:nvPr/>
        </p:nvSpPr>
        <p:spPr>
          <a:xfrm>
            <a:off x="752475" y="4711005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Shashvat Mishra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3743325" y="4520505"/>
            <a:ext cx="190500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3" name="Text 31"/>
          <p:cNvSpPr/>
          <p:nvPr/>
        </p:nvSpPr>
        <p:spPr>
          <a:xfrm>
            <a:off x="3895725" y="4711005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3rd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648325" y="45205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5" name="Text 33"/>
          <p:cNvSpPr/>
          <p:nvPr/>
        </p:nvSpPr>
        <p:spPr>
          <a:xfrm>
            <a:off x="5781675" y="47110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8056215" y="45205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7" name="Text 35"/>
          <p:cNvSpPr/>
          <p:nvPr/>
        </p:nvSpPr>
        <p:spPr>
          <a:xfrm>
            <a:off x="8189565" y="47110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0464105" y="452050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9" name="Text 37"/>
          <p:cNvSpPr/>
          <p:nvPr/>
        </p:nvSpPr>
        <p:spPr>
          <a:xfrm>
            <a:off x="10597455" y="471100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872070" y="45205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41" name="Text 39"/>
          <p:cNvSpPr/>
          <p:nvPr/>
        </p:nvSpPr>
        <p:spPr>
          <a:xfrm>
            <a:off x="13005420" y="47110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5279960" y="452050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43" name="Text 41"/>
          <p:cNvSpPr/>
          <p:nvPr/>
        </p:nvSpPr>
        <p:spPr>
          <a:xfrm>
            <a:off x="15413310" y="471100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600075" y="5177730"/>
            <a:ext cx="314325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5" name="Text 43"/>
          <p:cNvSpPr/>
          <p:nvPr/>
        </p:nvSpPr>
        <p:spPr>
          <a:xfrm>
            <a:off x="752475" y="5368230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Pranshu Sharma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3743325" y="5177730"/>
            <a:ext cx="190500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47" name="Text 45"/>
          <p:cNvSpPr/>
          <p:nvPr/>
        </p:nvSpPr>
        <p:spPr>
          <a:xfrm>
            <a:off x="3895725" y="5368230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3rd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5781675" y="536823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8189565" y="536823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0597455" y="536823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3005420" y="536823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5413310" y="536823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600075" y="5834955"/>
            <a:ext cx="314325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54" name="Text 52"/>
          <p:cNvSpPr/>
          <p:nvPr/>
        </p:nvSpPr>
        <p:spPr>
          <a:xfrm>
            <a:off x="752475" y="6025455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Suryansh Chauhan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3743325" y="5834955"/>
            <a:ext cx="190500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56" name="Text 54"/>
          <p:cNvSpPr/>
          <p:nvPr/>
        </p:nvSpPr>
        <p:spPr>
          <a:xfrm>
            <a:off x="3895725" y="6025455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3rd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5648325" y="583495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58" name="Text 56"/>
          <p:cNvSpPr/>
          <p:nvPr/>
        </p:nvSpPr>
        <p:spPr>
          <a:xfrm>
            <a:off x="5781675" y="602545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8056215" y="583495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60" name="Text 58"/>
          <p:cNvSpPr/>
          <p:nvPr/>
        </p:nvSpPr>
        <p:spPr>
          <a:xfrm>
            <a:off x="8189565" y="602545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10464105" y="583495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62" name="Text 60"/>
          <p:cNvSpPr/>
          <p:nvPr/>
        </p:nvSpPr>
        <p:spPr>
          <a:xfrm>
            <a:off x="10597455" y="602545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12872070" y="583495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64" name="Text 62"/>
          <p:cNvSpPr/>
          <p:nvPr/>
        </p:nvSpPr>
        <p:spPr>
          <a:xfrm>
            <a:off x="13005420" y="602545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15279960" y="583495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66" name="Text 64"/>
          <p:cNvSpPr/>
          <p:nvPr/>
        </p:nvSpPr>
        <p:spPr>
          <a:xfrm>
            <a:off x="15413310" y="602545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600075" y="6492180"/>
            <a:ext cx="314325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68" name="Text 66"/>
          <p:cNvSpPr/>
          <p:nvPr/>
        </p:nvSpPr>
        <p:spPr>
          <a:xfrm>
            <a:off x="752475" y="6682680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Paryag Kakkar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3743325" y="6492180"/>
            <a:ext cx="1905000" cy="6572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70" name="Text 68"/>
          <p:cNvSpPr/>
          <p:nvPr/>
        </p:nvSpPr>
        <p:spPr>
          <a:xfrm>
            <a:off x="3895725" y="6682680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· 3rd</a:t>
            </a:r>
            <a:endParaRPr lang="en-US" sz="1875" dirty="0"/>
          </a:p>
        </p:txBody>
      </p:sp>
      <p:sp>
        <p:nvSpPr>
          <p:cNvPr id="71" name="Text 69"/>
          <p:cNvSpPr/>
          <p:nvPr/>
        </p:nvSpPr>
        <p:spPr>
          <a:xfrm>
            <a:off x="5781675" y="66826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72" name="Text 70"/>
          <p:cNvSpPr/>
          <p:nvPr/>
        </p:nvSpPr>
        <p:spPr>
          <a:xfrm>
            <a:off x="8189565" y="66826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73" name="Text 71"/>
          <p:cNvSpPr/>
          <p:nvPr/>
        </p:nvSpPr>
        <p:spPr>
          <a:xfrm>
            <a:off x="10597455" y="668268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74" name="Text 72"/>
          <p:cNvSpPr/>
          <p:nvPr/>
        </p:nvSpPr>
        <p:spPr>
          <a:xfrm>
            <a:off x="13005420" y="6682680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75" name="Text 73"/>
          <p:cNvSpPr/>
          <p:nvPr/>
        </p:nvSpPr>
        <p:spPr>
          <a:xfrm>
            <a:off x="15413310" y="6682680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600075" y="7149405"/>
            <a:ext cx="314325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77" name="Text 75"/>
          <p:cNvSpPr/>
          <p:nvPr/>
        </p:nvSpPr>
        <p:spPr>
          <a:xfrm>
            <a:off x="752475" y="7339905"/>
            <a:ext cx="293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Shreya Gupta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3743325" y="7149405"/>
            <a:ext cx="190500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79" name="Text 77"/>
          <p:cNvSpPr/>
          <p:nvPr/>
        </p:nvSpPr>
        <p:spPr>
          <a:xfrm>
            <a:off x="3895725" y="7339905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3rd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5648325" y="71494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81" name="Text 79"/>
          <p:cNvSpPr/>
          <p:nvPr/>
        </p:nvSpPr>
        <p:spPr>
          <a:xfrm>
            <a:off x="5781675" y="73399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8056215" y="71494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83" name="Text 81"/>
          <p:cNvSpPr/>
          <p:nvPr/>
        </p:nvSpPr>
        <p:spPr>
          <a:xfrm>
            <a:off x="8189565" y="73399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0464105" y="714940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85" name="Text 83"/>
          <p:cNvSpPr/>
          <p:nvPr/>
        </p:nvSpPr>
        <p:spPr>
          <a:xfrm>
            <a:off x="10597455" y="733990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86" name="Shape 84"/>
          <p:cNvSpPr/>
          <p:nvPr/>
        </p:nvSpPr>
        <p:spPr>
          <a:xfrm>
            <a:off x="12872070" y="7149405"/>
            <a:ext cx="2407890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87" name="Text 85"/>
          <p:cNvSpPr/>
          <p:nvPr/>
        </p:nvSpPr>
        <p:spPr>
          <a:xfrm>
            <a:off x="13005420" y="7339905"/>
            <a:ext cx="2217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88" name="Shape 86"/>
          <p:cNvSpPr/>
          <p:nvPr/>
        </p:nvSpPr>
        <p:spPr>
          <a:xfrm>
            <a:off x="15279960" y="7149405"/>
            <a:ext cx="2407965" cy="657225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89" name="Text 87"/>
          <p:cNvSpPr/>
          <p:nvPr/>
        </p:nvSpPr>
        <p:spPr>
          <a:xfrm>
            <a:off x="15413310" y="7339905"/>
            <a:ext cx="221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[ASSIGN]</a:t>
            </a:r>
            <a:endParaRPr lang="en-US" sz="1875" dirty="0"/>
          </a:p>
        </p:txBody>
      </p:sp>
      <p:sp>
        <p:nvSpPr>
          <p:cNvPr id="90" name="Text 88"/>
          <p:cNvSpPr/>
          <p:nvPr/>
        </p:nvSpPr>
        <p:spPr>
          <a:xfrm>
            <a:off x="571500" y="9839325"/>
            <a:ext cx="176936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= Computer Science and Engineering · CE = Computer Engineering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1: PIPELINE OUTPUT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SPECTROGRAM + SIGNAL CARD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381000" y="2593330"/>
            <a:ext cx="10706100" cy="5443165"/>
          </a:xfrm>
          <a:prstGeom prst="rect">
            <a:avLst/>
          </a:prstGeom>
          <a:ln w="19050">
            <a:solidFill>
              <a:srgbClr val="D5E4C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593330"/>
            <a:ext cx="10706100" cy="54431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1000" y="8169846"/>
            <a:ext cx="400050" cy="266700"/>
          </a:xfrm>
          <a:prstGeom prst="rect">
            <a:avLst/>
          </a:prstGeom>
          <a:ln w="38100">
            <a:solidFill>
              <a:srgbClr val="A465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300" y="8176989"/>
            <a:ext cx="156291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burst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629719" y="8172227"/>
            <a:ext cx="63817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BPSK · 1 MS/s · 150 kHz offset · 50 kSym/s · 10 dB SNR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430000" y="2759869"/>
            <a:ext cx="6381750" cy="5510213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58575" y="2788444"/>
            <a:ext cx="6324600" cy="6524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3" name="Text 10"/>
          <p:cNvSpPr/>
          <p:nvPr/>
        </p:nvSpPr>
        <p:spPr>
          <a:xfrm>
            <a:off x="11668125" y="2959894"/>
            <a:ext cx="60952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CARD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458575" y="3440906"/>
            <a:ext cx="4092327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5" name="Text 12"/>
          <p:cNvSpPr/>
          <p:nvPr/>
        </p:nvSpPr>
        <p:spPr>
          <a:xfrm>
            <a:off x="11668125" y="3574256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15550902" y="3440906"/>
            <a:ext cx="2232273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7" name="Text 14"/>
          <p:cNvSpPr/>
          <p:nvPr/>
        </p:nvSpPr>
        <p:spPr>
          <a:xfrm>
            <a:off x="15684252" y="3574256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11668125" y="4117181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5684252" y="4117181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4.998 ms </a:t>
            </a:r>
            <a:pPr algn="r" indent="0" marL="0">
              <a:buNone/>
            </a:pPr>
            <a:r>
              <a:rPr lang="en-US" sz="1875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(5.00)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11458575" y="4526756"/>
            <a:ext cx="4092327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1" name="Text 18"/>
          <p:cNvSpPr/>
          <p:nvPr/>
        </p:nvSpPr>
        <p:spPr>
          <a:xfrm>
            <a:off x="11668125" y="4660106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width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5550902" y="4526756"/>
            <a:ext cx="2232273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3" name="Text 20"/>
          <p:cNvSpPr/>
          <p:nvPr/>
        </p:nvSpPr>
        <p:spPr>
          <a:xfrm>
            <a:off x="15684252" y="4660106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highlight>
                  <a:srgbClr val="D5E4C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2.029 ms </a:t>
            </a:r>
            <a:pPr algn="r" indent="0" marL="0">
              <a:buNone/>
            </a:pPr>
            <a:r>
              <a:rPr lang="en-US" sz="1875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(2.00)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1668125" y="5203031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5684252" y="5203031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9.99 dB </a:t>
            </a:r>
            <a:pPr algn="r" indent="0" marL="0">
              <a:buNone/>
            </a:pPr>
            <a:r>
              <a:rPr lang="en-US" sz="1875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(10.0)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1458575" y="5612606"/>
            <a:ext cx="4092327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7" name="Text 24"/>
          <p:cNvSpPr/>
          <p:nvPr/>
        </p:nvSpPr>
        <p:spPr>
          <a:xfrm>
            <a:off x="11668125" y="5745956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 dB BW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5550902" y="5612606"/>
            <a:ext cx="2232273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9" name="Text 26"/>
          <p:cNvSpPr/>
          <p:nvPr/>
        </p:nvSpPr>
        <p:spPr>
          <a:xfrm>
            <a:off x="15684252" y="5745956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highlight>
                  <a:srgbClr val="D5E4C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45.9 kHz </a:t>
            </a:r>
            <a:pPr algn="r" indent="0" marL="0">
              <a:buNone/>
            </a:pPr>
            <a:r>
              <a:rPr lang="en-US" sz="1875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(≈44.3)</a:t>
            </a:r>
            <a:endParaRPr lang="en-US" sz="1875" dirty="0"/>
          </a:p>
        </p:txBody>
      </p:sp>
      <p:sp>
        <p:nvSpPr>
          <p:cNvPr id="30" name="Text 27"/>
          <p:cNvSpPr/>
          <p:nvPr/>
        </p:nvSpPr>
        <p:spPr>
          <a:xfrm>
            <a:off x="11668125" y="6288881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Centre-freq error</a:t>
            </a:r>
            <a:endParaRPr lang="en-US" sz="1875" dirty="0"/>
          </a:p>
        </p:txBody>
      </p:sp>
      <p:sp>
        <p:nvSpPr>
          <p:cNvPr id="31" name="Text 28"/>
          <p:cNvSpPr/>
          <p:nvPr/>
        </p:nvSpPr>
        <p:spPr>
          <a:xfrm>
            <a:off x="15684252" y="6288881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kHz → 44 Hz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1458575" y="6698456"/>
            <a:ext cx="4092327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3" name="Text 30"/>
          <p:cNvSpPr/>
          <p:nvPr/>
        </p:nvSpPr>
        <p:spPr>
          <a:xfrm>
            <a:off x="11668125" y="6831806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rate</a:t>
            </a:r>
            <a:endParaRPr lang="en-US" sz="1875" dirty="0"/>
          </a:p>
        </p:txBody>
      </p:sp>
      <p:sp>
        <p:nvSpPr>
          <p:cNvPr id="34" name="Shape 31"/>
          <p:cNvSpPr/>
          <p:nvPr/>
        </p:nvSpPr>
        <p:spPr>
          <a:xfrm>
            <a:off x="15550902" y="6698456"/>
            <a:ext cx="2232273" cy="5429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35" name="Text 32"/>
          <p:cNvSpPr/>
          <p:nvPr/>
        </p:nvSpPr>
        <p:spPr>
          <a:xfrm>
            <a:off x="15684252" y="6831806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≥ 5 dB</a:t>
            </a:r>
            <a:endParaRPr lang="en-US" sz="1875" dirty="0"/>
          </a:p>
        </p:txBody>
      </p:sp>
      <p:sp>
        <p:nvSpPr>
          <p:cNvPr id="36" name="Text 33"/>
          <p:cNvSpPr/>
          <p:nvPr/>
        </p:nvSpPr>
        <p:spPr>
          <a:xfrm>
            <a:off x="11668125" y="7374731"/>
            <a:ext cx="3795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5684252" y="7374731"/>
            <a:ext cx="1889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BPSK</a:t>
            </a:r>
            <a:endParaRPr lang="en-US" sz="1875" dirty="0"/>
          </a:p>
        </p:txBody>
      </p:sp>
      <p:sp>
        <p:nvSpPr>
          <p:cNvPr id="38" name="Shape 35"/>
          <p:cNvSpPr/>
          <p:nvPr/>
        </p:nvSpPr>
        <p:spPr>
          <a:xfrm>
            <a:off x="11458575" y="7784306"/>
            <a:ext cx="6324600" cy="457200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39" name="Text 36"/>
          <p:cNvSpPr/>
          <p:nvPr/>
        </p:nvSpPr>
        <p:spPr>
          <a:xfrm>
            <a:off x="11668125" y="7898606"/>
            <a:ext cx="60952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(true / theory values in brackets)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428625" y="9839325"/>
            <a:ext cx="17979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test signal — pipeline output. Synthetic test signal, team Monte Carlo. Centre-freq error: mean abs, N=100.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2: HONEST ABSTENTION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RATE VS SNR</a:t>
            </a:r>
            <a:endParaRPr lang="en-US" sz="29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43025"/>
            <a:ext cx="10287000" cy="8791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01400" y="3040856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~5 dB the tool reports </a:t>
            </a:r>
            <a:pPr algn="l" indent="0" marL="0">
              <a:lnSpc>
                <a:spcPct val="121739"/>
              </a:lnSpc>
              <a:buNone/>
            </a:pPr>
            <a:r>
              <a:rPr lang="en-US" sz="2250" b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reliably estimated” </a:t>
            </a:r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wrong number.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1201400" y="4050506"/>
            <a:ext cx="6610350" cy="3938588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29975" y="4079081"/>
            <a:ext cx="6553200" cy="5429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0" name="Text 7"/>
          <p:cNvSpPr/>
          <p:nvPr/>
        </p:nvSpPr>
        <p:spPr>
          <a:xfrm>
            <a:off x="11420475" y="4212431"/>
            <a:ext cx="6368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example.sigmf-meta · annotation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1229975" y="4622006"/>
            <a:ext cx="6553200" cy="3338513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9525" y="4812506"/>
            <a:ext cx="6330696" cy="2995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"core:sample_start": 0,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"core:sample_count": 2000,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"core:label": "BPSK",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"pinpoint:snr_db": 9.99,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"pinpoint:bw_3db_hz": 45900,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"pinpoint:symbol_rate":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"not reliably estimated"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202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11201400" y="8198644"/>
            <a:ext cx="72713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snippet; field names follow SigMF [1].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05975" cy="962025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" y="0"/>
            <a:ext cx="969235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925" dirty="0"/>
          </a:p>
        </p:txBody>
      </p:sp>
      <p:sp>
        <p:nvSpPr>
          <p:cNvPr id="4" name="Shape 2"/>
          <p:cNvSpPr/>
          <p:nvPr/>
        </p:nvSpPr>
        <p:spPr>
          <a:xfrm>
            <a:off x="9705975" y="0"/>
            <a:ext cx="8582025" cy="962025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5" y="0"/>
            <a:ext cx="859183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FOR EXTERNAL CLAIMS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571500" y="3009900"/>
            <a:ext cx="17145000" cy="72866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3009900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3009900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600200" y="3219450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SigMF — Signal Metadata Format specification. sigmf.org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71500" y="3910013"/>
            <a:ext cx="17145000" cy="728663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3910013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" y="3910013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600200" y="4119563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Swami, B. M. Sadler, “Hierarchical digital modulation classification using cumulants,” </a:t>
            </a:r>
            <a:pPr algn="l" indent="0" marL="0">
              <a:buNone/>
            </a:pPr>
            <a:r>
              <a:rPr lang="en-US" sz="2100" i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Trans. Commun.</a:t>
            </a:r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2000.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71500" y="4810125"/>
            <a:ext cx="17145000" cy="72866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4810125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33400" y="4810125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600200" y="5019675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Tandra, A. Sahai, “SNR walls for signal detection,” </a:t>
            </a:r>
            <a:pPr algn="l" indent="0" marL="0">
              <a:buNone/>
            </a:pPr>
            <a:r>
              <a:rPr lang="en-US" sz="2100" i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J. Sel. Topics Signal Process.</a:t>
            </a:r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2008.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71500" y="5710238"/>
            <a:ext cx="17145000" cy="728663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5710238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5710238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600200" y="5919788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C. Rife, R. R. Boorstyn, “Single-tone parameter estimation from discrete-time observations,” </a:t>
            </a:r>
            <a:pPr algn="l" indent="0" marL="0">
              <a:buNone/>
            </a:pPr>
            <a:r>
              <a:rPr lang="en-US" sz="2100" i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Trans. Inf. Theory</a:t>
            </a:r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1974.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71500" y="6610350"/>
            <a:ext cx="17145000" cy="728663"/>
          </a:xfrm>
          <a:prstGeom prst="rect">
            <a:avLst/>
          </a:prstGeom>
          <a:solidFill>
            <a:srgbClr val="D5E4C1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6610350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" y="6610350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600200" y="6819900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J. O’Shea, T. Roy, T. C. Clancy, “Over-the-air deep learning based radio signal classification,” </a:t>
            </a:r>
            <a:pPr algn="l" indent="0" marL="0">
              <a:buNone/>
            </a:pPr>
            <a:r>
              <a:rPr lang="en-US" sz="2100" i="1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JSTSP</a:t>
            </a:r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2018.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71500" y="7510462"/>
            <a:ext cx="17145000" cy="728663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7510462"/>
            <a:ext cx="762000" cy="728663"/>
          </a:xfrm>
          <a:prstGeom prst="rect">
            <a:avLst/>
          </a:prstGeom>
          <a:solidFill>
            <a:srgbClr val="648744"/>
          </a:solidFill>
          <a:ln/>
        </p:spPr>
      </p:sp>
      <p:sp>
        <p:nvSpPr>
          <p:cNvPr id="28" name="Text 26"/>
          <p:cNvSpPr/>
          <p:nvPr/>
        </p:nvSpPr>
        <p:spPr>
          <a:xfrm>
            <a:off x="533400" y="7510462"/>
            <a:ext cx="83820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600200" y="7720012"/>
            <a:ext cx="16341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IQEngine. github.com/IQEngine/IQEngine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0500" y="3555206"/>
            <a:ext cx="104775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11250" b="1" dirty="0">
                <a:solidFill>
                  <a:srgbClr val="648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250" dirty="0"/>
          </a:p>
        </p:txBody>
      </p:sp>
      <p:sp>
        <p:nvSpPr>
          <p:cNvPr id="4" name="Text 1"/>
          <p:cNvSpPr/>
          <p:nvPr/>
        </p:nvSpPr>
        <p:spPr>
          <a:xfrm>
            <a:off x="7810500" y="5250656"/>
            <a:ext cx="104775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5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PinPoint · SIH26147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810500" y="6003131"/>
            <a:ext cx="6984727" cy="728663"/>
          </a:xfrm>
          <a:prstGeom prst="rect">
            <a:avLst/>
          </a:prstGeom>
          <a:ln w="28575">
            <a:solidFill>
              <a:srgbClr val="64874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39075" y="6031706"/>
            <a:ext cx="1186086" cy="671513"/>
          </a:xfrm>
          <a:prstGeom prst="rect">
            <a:avLst/>
          </a:prstGeom>
          <a:solidFill>
            <a:srgbClr val="80A650"/>
          </a:solidFill>
          <a:ln/>
        </p:spPr>
      </p:sp>
      <p:sp>
        <p:nvSpPr>
          <p:cNvPr id="7" name="Text 4"/>
          <p:cNvSpPr/>
          <p:nvPr/>
        </p:nvSpPr>
        <p:spPr>
          <a:xfrm>
            <a:off x="8067675" y="6203156"/>
            <a:ext cx="80508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9025161" y="6031706"/>
            <a:ext cx="5741491" cy="671513"/>
          </a:xfrm>
          <a:prstGeom prst="rect">
            <a:avLst/>
          </a:prstGeom>
          <a:solidFill>
            <a:srgbClr val="F6F9F1"/>
          </a:solidFill>
          <a:ln/>
        </p:spPr>
      </p:sp>
      <p:sp>
        <p:nvSpPr>
          <p:cNvPr id="9" name="Text 6"/>
          <p:cNvSpPr/>
          <p:nvPr/>
        </p:nvSpPr>
        <p:spPr>
          <a:xfrm>
            <a:off x="9253761" y="6203156"/>
            <a:ext cx="545653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0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github.com/pranshu1141-sharma/Pinpoint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2026-09-25T06:31:58Z</dcterms:created>
  <dcterms:modified xsi:type="dcterms:W3CDTF">2026-09-25T06:31:58Z</dcterms:modified>
</cp:coreProperties>
</file>